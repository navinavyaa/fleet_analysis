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datase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94360"/>
            <a:ext cx="10972800" cy="534924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5943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FLEET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664208"/>
            <a:ext cx="7498079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Predictive Maintenance
&amp; Fleet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AAB9CC"/>
                </a:solidFill>
                <a:latin typeface="Aptos"/>
              </a:rPr>
              <a:t>A data-driven view of vehicle health, operating conditions and maintenance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064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Fleet / Predictive Maintenance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Cleaned fleet dataset used for analysis and predictive maintenance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468880" cy="1325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32588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AB9CC"/>
                </a:solidFill>
                <a:latin typeface="Aptos"/>
              </a:rPr>
              <a:t>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25880"/>
            <a:ext cx="2468880" cy="1325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54864" cy="132588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472184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AB9CC"/>
                </a:solidFill>
                <a:latin typeface="Aptos"/>
              </a:rP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764792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258568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attributes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325880"/>
            <a:ext cx="2468880" cy="1325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0" y="1325880"/>
            <a:ext cx="54864" cy="1325880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1472184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AB9CC"/>
                </a:solidFill>
                <a:latin typeface="Aptos"/>
              </a:rPr>
              <a:t>NUMERIC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764792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258568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analysis-ready measures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1325880"/>
            <a:ext cx="2468880" cy="1325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95360" y="1325880"/>
            <a:ext cx="54864" cy="132588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96528" y="1472184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AB9CC"/>
                </a:solidFill>
                <a:latin typeface="Aptos"/>
              </a:rPr>
              <a:t>MISSING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1764792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258568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after cleaning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971800"/>
            <a:ext cx="3429000" cy="2468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18211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FIELD GROUP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54787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Vehicle_ID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13048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Make_and_Model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078224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Year_of_Manufacture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4343400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Vehicle_Type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608576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Usage_Hours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87375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Route_Info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138927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Load_Capacity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2971800"/>
            <a:ext cx="3429000" cy="2468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318211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FIELD GROUP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54787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Actual_Load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813048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Maintenance_Type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4078224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Maintenance_Cost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343400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Engine_Temperature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608576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Tire_Pressure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87375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Fuel_Consumption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5138927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Battery_Status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2971800"/>
            <a:ext cx="3429000" cy="246888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19" y="3182112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FIELD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7" y="354787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Oil_Quality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7" y="3813048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Brake_Condition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7" y="4078224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Failure_History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7" y="4343400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Maintenance_Required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3607" y="4608576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Weather_Conditions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93607" y="4873752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Road_Conditions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7" y="5138927"/>
            <a:ext cx="2926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• Delivery_Times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Predictive Maintenance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Connect vehicle condition, operating context and maintenance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148840" cy="1234440"/>
          </a:xfrm>
          <a:prstGeom prst="roundRect">
            <a:avLst/>
          </a:prstGeom>
          <a:solidFill>
            <a:srgbClr val="182840"/>
          </a:solidFill>
          <a:ln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VEHICLE
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28800"/>
            <a:ext cx="2148840" cy="1234440"/>
          </a:xfrm>
          <a:prstGeom prst="roundRect">
            <a:avLst/>
          </a:prstGeom>
          <a:solidFill>
            <a:srgbClr val="182840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79" y="2029968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CONDITION
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828800"/>
            <a:ext cx="2148840" cy="1234440"/>
          </a:xfrm>
          <a:prstGeom prst="roundRect">
            <a:avLst/>
          </a:prstGeom>
          <a:solidFill>
            <a:srgbClr val="182840"/>
          </a:solidFill>
          <a:ln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2029968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OPERATING
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828800"/>
            <a:ext cx="2148840" cy="1234440"/>
          </a:xfrm>
          <a:prstGeom prst="roundRect">
            <a:avLst/>
          </a:prstGeom>
          <a:solidFill>
            <a:srgbClr val="182840"/>
          </a:solidFill>
          <a:ln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2029968"/>
            <a:ext cx="187451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RISK / MAINTENANCE
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2450592"/>
            <a:ext cx="384048" cy="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" y="2450592"/>
            <a:ext cx="384048" cy="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2450592"/>
            <a:ext cx="384048" cy="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3794760"/>
            <a:ext cx="2514600" cy="77724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Brake 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Good / Moderate / Poor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794760"/>
            <a:ext cx="2514600" cy="77724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3886200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Weather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16052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Environmental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46320"/>
            <a:ext cx="2514600" cy="77724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Road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Road / terrain effect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4846320"/>
            <a:ext cx="2514600" cy="77724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4937760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6D399"/>
                </a:solidFill>
                <a:latin typeface="Aptos"/>
              </a:rPr>
              <a:t>Mileage &amp; 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212080"/>
            <a:ext cx="2240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AAB9CC"/>
                </a:solidFill>
                <a:latin typeface="Aptos"/>
              </a:rPr>
              <a:t>Wear accumulation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94760"/>
            <a:ext cx="4572000" cy="182880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4023360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F9CFF"/>
                </a:solidFill>
                <a:latin typeface="Aptos"/>
              </a:rPr>
              <a:t>BUSINESS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434840"/>
            <a:ext cx="3886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Earlier intervention • safer vehicles
Less downtime • smarter maintenance 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SQL Analysis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Example query pattern for extracting vehicle and operating-condition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27080" cy="425196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49840" cy="2606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Consolas"/>
              </a:rPr>
              <a:t>SELECT
    f.Vehicle_ID,
    f.Weather_Conditions,
    f.Road_Conditions
FROM fleetdb AS f
INNER JOIN logistics_predictive_maintenance_v2 AS p
    ON f.Vehicle_ID = p.Vehicle_ID
WHERE p.Brake_Condition = 'Good';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617720"/>
            <a:ext cx="10012680" cy="621792"/>
          </a:xfrm>
          <a:prstGeom prst="roundRect">
            <a:avLst/>
          </a:prstGeom>
          <a:solidFill>
            <a:srgbClr val="182840"/>
          </a:solidFill>
          <a:ln>
            <a:solidFill>
              <a:srgbClr val="1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4754880"/>
            <a:ext cx="9646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AD5C"/>
                </a:solidFill>
                <a:latin typeface="Aptos"/>
              </a:rPr>
              <a:t>Key fix: qualify the join columns — ON f.Vehicle_ID = p.Vehicle_ID — to avoid an ambiguous self-comparison.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Data Dictionary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Representative fields and their analytical role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64008" marR="64008" marT="36576" marB="36576">
                    <a:solidFill>
                      <a:srgbClr val="4F9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64008" marR="64008" marT="36576" marB="36576">
                    <a:solidFill>
                      <a:srgbClr val="4F9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F8FC"/>
                          </a:solidFill>
                          <a:latin typeface="Aptos"/>
                        </a:rPr>
                        <a:t>Analytical role</a:t>
                      </a:r>
                    </a:p>
                  </a:txBody>
                  <a:tcPr marL="64008" marR="64008" marT="36576" marB="36576">
                    <a:solidFill>
                      <a:srgbClr val="4F9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Vehicle_ID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int64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Identifier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Brake_Condition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object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Vehicle health signal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Weather_Conditions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object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Vehicle health signal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Road_Conditions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object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5F8FC"/>
                          </a:solidFill>
                          <a:latin typeface="Aptos"/>
                        </a:rPr>
                        <a:t>Vehicle health signal</a:t>
                      </a:r>
                    </a:p>
                  </a:txBody>
                  <a:tcPr marL="64008" marR="64008" marT="36576" marB="36576">
                    <a:solidFill>
                      <a:srgbClr val="18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532120"/>
            <a:ext cx="10789920" cy="502920"/>
          </a:xfrm>
          <a:prstGeom prst="roundRect">
            <a:avLst/>
          </a:prstGeom>
          <a:solidFill>
            <a:srgbClr val="182840"/>
          </a:solidFill>
          <a:ln>
            <a:solidFill>
              <a:srgbClr val="1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632704"/>
            <a:ext cx="10287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Map every raw field to business meaning before building dashboards or ML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7585"/>
            <a:ext cx="1713931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 dirty="0">
                <a:solidFill>
                  <a:srgbClr val="F5F8FC"/>
                </a:solidFill>
                <a:latin typeface="Aptos"/>
              </a:rPr>
              <a:t>Mind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Tables → features → analysis → maintenance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2487168"/>
            <a:ext cx="2926080" cy="1051560"/>
          </a:xfrm>
          <a:prstGeom prst="roundRect">
            <a:avLst/>
          </a:prstGeom>
          <a:solidFill>
            <a:srgbClr val="4F9CFF"/>
          </a:solidFill>
          <a:ln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600" y="2660904"/>
            <a:ext cx="2560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FLEET
PREDICTIVE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FLEETDB
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23444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72600" y="137160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MAINTENANCE
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25196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VEHICLE
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425196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438912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CONDITION
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534924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548640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SQL / JOIN
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5349240"/>
            <a:ext cx="2057400" cy="822960"/>
          </a:xfrm>
          <a:prstGeom prst="roundRect">
            <a:avLst/>
          </a:prstGeom>
          <a:solidFill>
            <a:srgbClr val="182840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5486400"/>
            <a:ext cx="1874519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POWER BI / EXCEL
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1645920"/>
            <a:ext cx="1965960" cy="114300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543800" y="1645920"/>
            <a:ext cx="1737360" cy="114300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51760" y="3200400"/>
            <a:ext cx="1965960" cy="137160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543800" y="3200400"/>
            <a:ext cx="1737360" cy="1371600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86200" y="3538728"/>
            <a:ext cx="1143000" cy="1810512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7132320" y="3538728"/>
            <a:ext cx="960120" cy="1810512"/>
          </a:xfrm>
          <a:prstGeom prst="line">
            <a:avLst/>
          </a:prstGeom>
          <a:ln w="2540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Vehicle_ID • Weather • Road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Brake • Service •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0749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Age • Mileage •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50749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Brake • Weather • Road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619963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Extract +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199632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AAB9CC"/>
                </a:solidFill>
                <a:latin typeface="Aptos"/>
              </a:rPr>
              <a:t>Monitor +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Dashboard &amp; 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A practical reporting structure for fleet managers and maintenance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074920" cy="160020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554480"/>
            <a:ext cx="594360" cy="594360"/>
          </a:xfrm>
          <a:prstGeom prst="roundRect">
            <a:avLst/>
          </a:prstGeom>
          <a:solidFill>
            <a:srgbClr val="36D399"/>
          </a:solidFill>
          <a:ln>
            <a:solidFill>
              <a:srgbClr val="36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54480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12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27048"/>
            <a:ext cx="3566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Fleet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47672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Overall condition 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3566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6D399"/>
                </a:solidFill>
                <a:latin typeface="Aptos"/>
              </a:rPr>
              <a:t>Recommended: KPI + bar/donut + slicers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074920" cy="160020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27648" y="1554480"/>
            <a:ext cx="594360" cy="594360"/>
          </a:xfrm>
          <a:prstGeom prst="roundRect">
            <a:avLst/>
          </a:prstGeom>
          <a:solidFill>
            <a:srgbClr val="4F9CFF"/>
          </a:solidFill>
          <a:ln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554480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122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27048"/>
            <a:ext cx="3566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Brake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47672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Good / Moderate / Poor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468880"/>
            <a:ext cx="3566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6D399"/>
                </a:solidFill>
                <a:latin typeface="Aptos"/>
              </a:rPr>
              <a:t>Recommended: KPI + bar/donut + slicers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5074920" cy="160020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7" y="3611880"/>
            <a:ext cx="594360" cy="594360"/>
          </a:xfrm>
          <a:prstGeom prst="roundRect">
            <a:avLst/>
          </a:prstGeom>
          <a:solidFill>
            <a:srgbClr val="FFAD5C"/>
          </a:solidFill>
          <a:ln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611880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122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84448"/>
            <a:ext cx="3566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Road &amp;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05072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Operating risk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26280"/>
            <a:ext cx="3566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6D399"/>
                </a:solidFill>
                <a:latin typeface="Aptos"/>
              </a:rPr>
              <a:t>Recommended: KPI + bar/donut + slicers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83280"/>
            <a:ext cx="5074920" cy="1600200"/>
          </a:xfrm>
          <a:prstGeom prst="roundRect">
            <a:avLst/>
          </a:prstGeom>
          <a:solidFill>
            <a:srgbClr val="131F33"/>
          </a:solidFill>
          <a:ln>
            <a:solidFill>
              <a:srgbClr val="13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27648" y="3611880"/>
            <a:ext cx="594360" cy="594360"/>
          </a:xfrm>
          <a:prstGeom prst="roundRect">
            <a:avLst/>
          </a:prstGeom>
          <a:solidFill>
            <a:srgbClr val="FF6384"/>
          </a:solidFill>
          <a:ln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3611880"/>
            <a:ext cx="594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A122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84448"/>
            <a:ext cx="3566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Maintenance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005072"/>
            <a:ext cx="3566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Prioritized interventions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26280"/>
            <a:ext cx="3566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6D399"/>
                </a:solidFill>
                <a:latin typeface="Aptos"/>
              </a:rPr>
              <a:t>Recommended: KPI + bar/donut + slicers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23560"/>
            <a:ext cx="10561320" cy="548640"/>
          </a:xfrm>
          <a:prstGeom prst="roundRect">
            <a:avLst/>
          </a:prstGeom>
          <a:solidFill>
            <a:srgbClr val="182840"/>
          </a:solidFill>
          <a:ln>
            <a:solidFill>
              <a:srgbClr val="18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Slicers: Vehicle • Brake Condition • Weather • Road • Maintenance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AB9CC"/>
                </a:solidFill>
                <a:latin typeface="Aptos"/>
              </a:rPr>
              <a:t>From cleaned data to an actionable fleet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3444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Clean &amp;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74980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Standardize vehicle, condition and operating fields.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892808"/>
            <a:ext cx="10424160" cy="0"/>
          </a:xfrm>
          <a:prstGeom prst="line">
            <a:avLst/>
          </a:prstGeom>
          <a:ln w="889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19456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Join correctly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74980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Use explicit aliases and qualified keys in SQL.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852928"/>
            <a:ext cx="10424160" cy="0"/>
          </a:xfrm>
          <a:prstGeom prst="line">
            <a:avLst/>
          </a:prstGeom>
          <a:ln w="889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15468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Build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74980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Convert raw signals into maintenance-risk indicators.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813048"/>
            <a:ext cx="10424160" cy="0"/>
          </a:xfrm>
          <a:prstGeom prst="line">
            <a:avLst/>
          </a:prstGeom>
          <a:ln w="889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11480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1480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Visualize clearly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114800"/>
            <a:ext cx="74980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Use KPIs, trends, condition breakdowns and slicers.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4773168"/>
            <a:ext cx="10424160" cy="0"/>
          </a:xfrm>
          <a:prstGeom prst="line">
            <a:avLst/>
          </a:prstGeom>
          <a:ln w="889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074920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36D399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07492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Act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074920"/>
            <a:ext cx="74980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AAB9CC"/>
                </a:solidFill>
                <a:latin typeface="Aptos"/>
              </a:rPr>
              <a:t>Prioritize inspections before failures create downtime.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733288"/>
            <a:ext cx="10424160" cy="0"/>
          </a:xfrm>
          <a:prstGeom prst="line">
            <a:avLst/>
          </a:prstGeom>
          <a:ln w="8890">
            <a:solidFill>
              <a:srgbClr val="3749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F9CFF"/>
                </a:solidFill>
                <a:latin typeface="Aptos"/>
              </a:rPr>
              <a:t>FLEET INTELLIGENCE  •  SAFETY  •  UPTIME  •  SMARTER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9C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4D0A7EDB-CAAA-9424-15FB-93CDDF1D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68"/>
            <a:ext cx="12192000" cy="72209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8" name="Rectangle: Rounded Corners 27">
            <a:hlinkClick r:id="rId3" action="ppaction://hlinkfile"/>
            <a:extLst>
              <a:ext uri="{FF2B5EF4-FFF2-40B4-BE49-F238E27FC236}">
                <a16:creationId xmlns:a16="http://schemas.microsoft.com/office/drawing/2014/main" id="{45664A50-8E85-3757-54D3-3F2C6746DF6B}"/>
              </a:ext>
            </a:extLst>
          </p:cNvPr>
          <p:cNvSpPr/>
          <p:nvPr/>
        </p:nvSpPr>
        <p:spPr>
          <a:xfrm>
            <a:off x="1448585" y="725864"/>
            <a:ext cx="9294829" cy="284689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FLEET DATABASE</a:t>
            </a:r>
          </a:p>
          <a:p>
            <a:pPr algn="ctr"/>
            <a:r>
              <a:rPr lang="en-I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</a:rPr>
              <a:t>https://drive.google.com/file/d/1J2UeuVURYxEu69goYd-yGn2Ei1_FLLN1/view?usp=sharing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185041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633</Words>
  <Application>Microsoft Office PowerPoint</Application>
  <PresentationFormat>Widescreen</PresentationFormat>
  <Paragraphs>142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Navyaa Sri</cp:lastModifiedBy>
  <cp:revision>3</cp:revision>
  <dcterms:created xsi:type="dcterms:W3CDTF">2013-01-27T09:14:16Z</dcterms:created>
  <dcterms:modified xsi:type="dcterms:W3CDTF">2026-08-19T14:19:10Z</dcterms:modified>
  <cp:category/>
</cp:coreProperties>
</file>